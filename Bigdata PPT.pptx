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4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D5CFBA-4DF6-4E70-A66F-AC13DD2B1B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860E5E0-A9F4-48A8-ADBE-7E2153FC1AC4}">
      <dgm:prSet/>
      <dgm:spPr/>
      <dgm:t>
        <a:bodyPr/>
        <a:lstStyle/>
        <a:p>
          <a:pPr>
            <a:defRPr cap="all"/>
          </a:pPr>
          <a:r>
            <a:rPr lang="en-US"/>
            <a:t>• Deploy real-time forecasting pipeline in Databricks (streaming + model serving)</a:t>
          </a:r>
        </a:p>
      </dgm:t>
    </dgm:pt>
    <dgm:pt modelId="{1FCDBE41-7409-421A-AC64-E7D073A268BA}" type="parTrans" cxnId="{F12996D4-CECE-43D3-861D-DDDE937F0E33}">
      <dgm:prSet/>
      <dgm:spPr/>
      <dgm:t>
        <a:bodyPr/>
        <a:lstStyle/>
        <a:p>
          <a:endParaRPr lang="en-US"/>
        </a:p>
      </dgm:t>
    </dgm:pt>
    <dgm:pt modelId="{250AB79A-AC29-4188-AE98-64ADE32902FE}" type="sibTrans" cxnId="{F12996D4-CECE-43D3-861D-DDDE937F0E33}">
      <dgm:prSet/>
      <dgm:spPr/>
      <dgm:t>
        <a:bodyPr/>
        <a:lstStyle/>
        <a:p>
          <a:endParaRPr lang="en-US"/>
        </a:p>
      </dgm:t>
    </dgm:pt>
    <dgm:pt modelId="{E3F5D0AF-AE5F-4F76-804A-6316485B4EAE}">
      <dgm:prSet/>
      <dgm:spPr/>
      <dgm:t>
        <a:bodyPr/>
        <a:lstStyle/>
        <a:p>
          <a:pPr>
            <a:defRPr cap="all"/>
          </a:pPr>
          <a:r>
            <a:rPr lang="en-US"/>
            <a:t>• Implement dynamic pricing using demand signals + fairness constraints</a:t>
          </a:r>
        </a:p>
      </dgm:t>
    </dgm:pt>
    <dgm:pt modelId="{7AD887A4-8947-4181-AF7C-5B4519C63A61}" type="parTrans" cxnId="{6B191908-DDD0-4568-9BF7-139FB637E46F}">
      <dgm:prSet/>
      <dgm:spPr/>
      <dgm:t>
        <a:bodyPr/>
        <a:lstStyle/>
        <a:p>
          <a:endParaRPr lang="en-US"/>
        </a:p>
      </dgm:t>
    </dgm:pt>
    <dgm:pt modelId="{CAE96068-1F4A-430E-8F22-3DAF31AC190C}" type="sibTrans" cxnId="{6B191908-DDD0-4568-9BF7-139FB637E46F}">
      <dgm:prSet/>
      <dgm:spPr/>
      <dgm:t>
        <a:bodyPr/>
        <a:lstStyle/>
        <a:p>
          <a:endParaRPr lang="en-US"/>
        </a:p>
      </dgm:t>
    </dgm:pt>
    <dgm:pt modelId="{97BE5375-D357-4368-A37F-D2565F8707F2}">
      <dgm:prSet/>
      <dgm:spPr/>
      <dgm:t>
        <a:bodyPr/>
        <a:lstStyle/>
        <a:p>
          <a:pPr>
            <a:defRPr cap="all"/>
          </a:pPr>
          <a:r>
            <a:rPr lang="en-US"/>
            <a:t>• Integrate weather &amp; events data for improved forecast accuracy</a:t>
          </a:r>
        </a:p>
      </dgm:t>
    </dgm:pt>
    <dgm:pt modelId="{66A88F68-ADAF-4068-98B2-F483F87E4F2F}" type="parTrans" cxnId="{A97DD3F2-1DC8-44F8-A877-BEDA6BFD7498}">
      <dgm:prSet/>
      <dgm:spPr/>
      <dgm:t>
        <a:bodyPr/>
        <a:lstStyle/>
        <a:p>
          <a:endParaRPr lang="en-US"/>
        </a:p>
      </dgm:t>
    </dgm:pt>
    <dgm:pt modelId="{E9458EB1-3683-4DE0-AEF8-279A909F64D7}" type="sibTrans" cxnId="{A97DD3F2-1DC8-44F8-A877-BEDA6BFD7498}">
      <dgm:prSet/>
      <dgm:spPr/>
      <dgm:t>
        <a:bodyPr/>
        <a:lstStyle/>
        <a:p>
          <a:endParaRPr lang="en-US"/>
        </a:p>
      </dgm:t>
    </dgm:pt>
    <dgm:pt modelId="{B51C481F-7FC1-4405-B6B7-4B86F65F7244}">
      <dgm:prSet/>
      <dgm:spPr/>
      <dgm:t>
        <a:bodyPr/>
        <a:lstStyle/>
        <a:p>
          <a:pPr>
            <a:defRPr cap="all"/>
          </a:pPr>
          <a:r>
            <a:rPr lang="en-US"/>
            <a:t>• Driver incentives &amp; shift optimization to reduce idle time</a:t>
          </a:r>
        </a:p>
      </dgm:t>
    </dgm:pt>
    <dgm:pt modelId="{FE1B0AD1-CD6E-4F2B-B1C2-424BA2ECE472}" type="parTrans" cxnId="{6B51DFFE-19ED-486B-9B8B-6254A0BBB2B7}">
      <dgm:prSet/>
      <dgm:spPr/>
      <dgm:t>
        <a:bodyPr/>
        <a:lstStyle/>
        <a:p>
          <a:endParaRPr lang="en-US"/>
        </a:p>
      </dgm:t>
    </dgm:pt>
    <dgm:pt modelId="{6DDBDD15-13FB-4B8B-9416-EE69DAFA82D0}" type="sibTrans" cxnId="{6B51DFFE-19ED-486B-9B8B-6254A0BBB2B7}">
      <dgm:prSet/>
      <dgm:spPr/>
      <dgm:t>
        <a:bodyPr/>
        <a:lstStyle/>
        <a:p>
          <a:endParaRPr lang="en-US"/>
        </a:p>
      </dgm:t>
    </dgm:pt>
    <dgm:pt modelId="{84570498-509F-459A-965C-790C745F9046}" type="pres">
      <dgm:prSet presAssocID="{9FD5CFBA-4DF6-4E70-A66F-AC13DD2B1B49}" presName="root" presStyleCnt="0">
        <dgm:presLayoutVars>
          <dgm:dir/>
          <dgm:resizeHandles val="exact"/>
        </dgm:presLayoutVars>
      </dgm:prSet>
      <dgm:spPr/>
    </dgm:pt>
    <dgm:pt modelId="{A8D3F22E-8C85-4C99-A8CC-4A609EEF5860}" type="pres">
      <dgm:prSet presAssocID="{3860E5E0-A9F4-48A8-ADBE-7E2153FC1AC4}" presName="compNode" presStyleCnt="0"/>
      <dgm:spPr/>
    </dgm:pt>
    <dgm:pt modelId="{C45BB2B5-706C-413A-96D5-4E3D7006D830}" type="pres">
      <dgm:prSet presAssocID="{3860E5E0-A9F4-48A8-ADBE-7E2153FC1AC4}" presName="iconBgRect" presStyleLbl="bgShp" presStyleIdx="0" presStyleCnt="4"/>
      <dgm:spPr/>
    </dgm:pt>
    <dgm:pt modelId="{E17FF71C-F834-4F1F-8F77-5F5C30634AFF}" type="pres">
      <dgm:prSet presAssocID="{3860E5E0-A9F4-48A8-ADBE-7E2153FC1A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44334C4-62CF-4328-B06E-DC82DA617CB1}" type="pres">
      <dgm:prSet presAssocID="{3860E5E0-A9F4-48A8-ADBE-7E2153FC1AC4}" presName="spaceRect" presStyleCnt="0"/>
      <dgm:spPr/>
    </dgm:pt>
    <dgm:pt modelId="{662D99AA-937E-46DA-9089-D15C82BE6AD1}" type="pres">
      <dgm:prSet presAssocID="{3860E5E0-A9F4-48A8-ADBE-7E2153FC1AC4}" presName="textRect" presStyleLbl="revTx" presStyleIdx="0" presStyleCnt="4">
        <dgm:presLayoutVars>
          <dgm:chMax val="1"/>
          <dgm:chPref val="1"/>
        </dgm:presLayoutVars>
      </dgm:prSet>
      <dgm:spPr/>
    </dgm:pt>
    <dgm:pt modelId="{41A9D2AE-1D02-48DF-8287-A40C55072DC9}" type="pres">
      <dgm:prSet presAssocID="{250AB79A-AC29-4188-AE98-64ADE32902FE}" presName="sibTrans" presStyleCnt="0"/>
      <dgm:spPr/>
    </dgm:pt>
    <dgm:pt modelId="{C533864F-5A24-45B6-AB1A-CF0242AD07FC}" type="pres">
      <dgm:prSet presAssocID="{E3F5D0AF-AE5F-4F76-804A-6316485B4EAE}" presName="compNode" presStyleCnt="0"/>
      <dgm:spPr/>
    </dgm:pt>
    <dgm:pt modelId="{8B7FF7CB-72B4-4DC4-9F27-56A20201E7C5}" type="pres">
      <dgm:prSet presAssocID="{E3F5D0AF-AE5F-4F76-804A-6316485B4EAE}" presName="iconBgRect" presStyleLbl="bgShp" presStyleIdx="1" presStyleCnt="4"/>
      <dgm:spPr/>
    </dgm:pt>
    <dgm:pt modelId="{7579B9E3-702B-4F6F-B004-AB9D574E3A7F}" type="pres">
      <dgm:prSet presAssocID="{E3F5D0AF-AE5F-4F76-804A-6316485B4EA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55BAF87-8634-4E42-BB31-D50F44C7FB7D}" type="pres">
      <dgm:prSet presAssocID="{E3F5D0AF-AE5F-4F76-804A-6316485B4EAE}" presName="spaceRect" presStyleCnt="0"/>
      <dgm:spPr/>
    </dgm:pt>
    <dgm:pt modelId="{7700D3B8-AB01-48A0-B53A-353B89A8F6AA}" type="pres">
      <dgm:prSet presAssocID="{E3F5D0AF-AE5F-4F76-804A-6316485B4EAE}" presName="textRect" presStyleLbl="revTx" presStyleIdx="1" presStyleCnt="4">
        <dgm:presLayoutVars>
          <dgm:chMax val="1"/>
          <dgm:chPref val="1"/>
        </dgm:presLayoutVars>
      </dgm:prSet>
      <dgm:spPr/>
    </dgm:pt>
    <dgm:pt modelId="{8882889C-AF8A-40C2-9B87-0336650750C1}" type="pres">
      <dgm:prSet presAssocID="{CAE96068-1F4A-430E-8F22-3DAF31AC190C}" presName="sibTrans" presStyleCnt="0"/>
      <dgm:spPr/>
    </dgm:pt>
    <dgm:pt modelId="{815A6545-5DCB-4C2B-96A7-F54796FAE49A}" type="pres">
      <dgm:prSet presAssocID="{97BE5375-D357-4368-A37F-D2565F8707F2}" presName="compNode" presStyleCnt="0"/>
      <dgm:spPr/>
    </dgm:pt>
    <dgm:pt modelId="{5D17327D-4B34-4DFB-B787-F0DB880D4BFE}" type="pres">
      <dgm:prSet presAssocID="{97BE5375-D357-4368-A37F-D2565F8707F2}" presName="iconBgRect" presStyleLbl="bgShp" presStyleIdx="2" presStyleCnt="4"/>
      <dgm:spPr/>
    </dgm:pt>
    <dgm:pt modelId="{CDF560C0-20C7-47E9-A14D-C68877F2DF3A}" type="pres">
      <dgm:prSet presAssocID="{97BE5375-D357-4368-A37F-D2565F8707F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6B4B4B39-7020-40AD-B61D-58A7F91A9AAD}" type="pres">
      <dgm:prSet presAssocID="{97BE5375-D357-4368-A37F-D2565F8707F2}" presName="spaceRect" presStyleCnt="0"/>
      <dgm:spPr/>
    </dgm:pt>
    <dgm:pt modelId="{2A80051F-AC05-46F7-A0FB-65040E7A4AD5}" type="pres">
      <dgm:prSet presAssocID="{97BE5375-D357-4368-A37F-D2565F8707F2}" presName="textRect" presStyleLbl="revTx" presStyleIdx="2" presStyleCnt="4">
        <dgm:presLayoutVars>
          <dgm:chMax val="1"/>
          <dgm:chPref val="1"/>
        </dgm:presLayoutVars>
      </dgm:prSet>
      <dgm:spPr/>
    </dgm:pt>
    <dgm:pt modelId="{7316DF4C-A797-4278-A0F4-D4ADE8D16FB9}" type="pres">
      <dgm:prSet presAssocID="{E9458EB1-3683-4DE0-AEF8-279A909F64D7}" presName="sibTrans" presStyleCnt="0"/>
      <dgm:spPr/>
    </dgm:pt>
    <dgm:pt modelId="{5B5DFC13-75B5-44A4-9D46-7A3F83B018B4}" type="pres">
      <dgm:prSet presAssocID="{B51C481F-7FC1-4405-B6B7-4B86F65F7244}" presName="compNode" presStyleCnt="0"/>
      <dgm:spPr/>
    </dgm:pt>
    <dgm:pt modelId="{6D4F3768-A0C5-4AEF-A690-77CEF0D6E643}" type="pres">
      <dgm:prSet presAssocID="{B51C481F-7FC1-4405-B6B7-4B86F65F7244}" presName="iconBgRect" presStyleLbl="bgShp" presStyleIdx="3" presStyleCnt="4"/>
      <dgm:spPr/>
    </dgm:pt>
    <dgm:pt modelId="{ECAE84B1-5D7E-4062-B05D-E48512E78FEA}" type="pres">
      <dgm:prSet presAssocID="{B51C481F-7FC1-4405-B6B7-4B86F65F724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16E30D37-4842-482A-AE1F-26A303DFF653}" type="pres">
      <dgm:prSet presAssocID="{B51C481F-7FC1-4405-B6B7-4B86F65F7244}" presName="spaceRect" presStyleCnt="0"/>
      <dgm:spPr/>
    </dgm:pt>
    <dgm:pt modelId="{ACFF11CD-75F1-44BF-99DF-F57773CBD6AB}" type="pres">
      <dgm:prSet presAssocID="{B51C481F-7FC1-4405-B6B7-4B86F65F72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DB4A02-61CB-4CD0-A339-AA83F135BB07}" type="presOf" srcId="{E3F5D0AF-AE5F-4F76-804A-6316485B4EAE}" destId="{7700D3B8-AB01-48A0-B53A-353B89A8F6AA}" srcOrd="0" destOrd="0" presId="urn:microsoft.com/office/officeart/2018/5/layout/IconCircleLabelList"/>
    <dgm:cxn modelId="{6B191908-DDD0-4568-9BF7-139FB637E46F}" srcId="{9FD5CFBA-4DF6-4E70-A66F-AC13DD2B1B49}" destId="{E3F5D0AF-AE5F-4F76-804A-6316485B4EAE}" srcOrd="1" destOrd="0" parTransId="{7AD887A4-8947-4181-AF7C-5B4519C63A61}" sibTransId="{CAE96068-1F4A-430E-8F22-3DAF31AC190C}"/>
    <dgm:cxn modelId="{1BF1537D-4AE6-460E-84AA-B388D9AAF33F}" type="presOf" srcId="{3860E5E0-A9F4-48A8-ADBE-7E2153FC1AC4}" destId="{662D99AA-937E-46DA-9089-D15C82BE6AD1}" srcOrd="0" destOrd="0" presId="urn:microsoft.com/office/officeart/2018/5/layout/IconCircleLabelList"/>
    <dgm:cxn modelId="{8CFF5EB2-20C8-4EFC-9C1A-A798D47A38BC}" type="presOf" srcId="{B51C481F-7FC1-4405-B6B7-4B86F65F7244}" destId="{ACFF11CD-75F1-44BF-99DF-F57773CBD6AB}" srcOrd="0" destOrd="0" presId="urn:microsoft.com/office/officeart/2018/5/layout/IconCircleLabelList"/>
    <dgm:cxn modelId="{F12996D4-CECE-43D3-861D-DDDE937F0E33}" srcId="{9FD5CFBA-4DF6-4E70-A66F-AC13DD2B1B49}" destId="{3860E5E0-A9F4-48A8-ADBE-7E2153FC1AC4}" srcOrd="0" destOrd="0" parTransId="{1FCDBE41-7409-421A-AC64-E7D073A268BA}" sibTransId="{250AB79A-AC29-4188-AE98-64ADE32902FE}"/>
    <dgm:cxn modelId="{EB605DD5-7D75-4EFC-BC36-8056E8F6F1AB}" type="presOf" srcId="{9FD5CFBA-4DF6-4E70-A66F-AC13DD2B1B49}" destId="{84570498-509F-459A-965C-790C745F9046}" srcOrd="0" destOrd="0" presId="urn:microsoft.com/office/officeart/2018/5/layout/IconCircleLabelList"/>
    <dgm:cxn modelId="{A97DD3F2-1DC8-44F8-A877-BEDA6BFD7498}" srcId="{9FD5CFBA-4DF6-4E70-A66F-AC13DD2B1B49}" destId="{97BE5375-D357-4368-A37F-D2565F8707F2}" srcOrd="2" destOrd="0" parTransId="{66A88F68-ADAF-4068-98B2-F483F87E4F2F}" sibTransId="{E9458EB1-3683-4DE0-AEF8-279A909F64D7}"/>
    <dgm:cxn modelId="{315E96F3-91AE-4940-B64C-475305A17885}" type="presOf" srcId="{97BE5375-D357-4368-A37F-D2565F8707F2}" destId="{2A80051F-AC05-46F7-A0FB-65040E7A4AD5}" srcOrd="0" destOrd="0" presId="urn:microsoft.com/office/officeart/2018/5/layout/IconCircleLabelList"/>
    <dgm:cxn modelId="{6B51DFFE-19ED-486B-9B8B-6254A0BBB2B7}" srcId="{9FD5CFBA-4DF6-4E70-A66F-AC13DD2B1B49}" destId="{B51C481F-7FC1-4405-B6B7-4B86F65F7244}" srcOrd="3" destOrd="0" parTransId="{FE1B0AD1-CD6E-4F2B-B1C2-424BA2ECE472}" sibTransId="{6DDBDD15-13FB-4B8B-9416-EE69DAFA82D0}"/>
    <dgm:cxn modelId="{87ADC056-3549-433D-8DE7-5E2C53884884}" type="presParOf" srcId="{84570498-509F-459A-965C-790C745F9046}" destId="{A8D3F22E-8C85-4C99-A8CC-4A609EEF5860}" srcOrd="0" destOrd="0" presId="urn:microsoft.com/office/officeart/2018/5/layout/IconCircleLabelList"/>
    <dgm:cxn modelId="{AA4F49DA-8155-4974-ADB2-8FE9007A5BAF}" type="presParOf" srcId="{A8D3F22E-8C85-4C99-A8CC-4A609EEF5860}" destId="{C45BB2B5-706C-413A-96D5-4E3D7006D830}" srcOrd="0" destOrd="0" presId="urn:microsoft.com/office/officeart/2018/5/layout/IconCircleLabelList"/>
    <dgm:cxn modelId="{CDC86691-4210-4C73-8E12-92D303489CDD}" type="presParOf" srcId="{A8D3F22E-8C85-4C99-A8CC-4A609EEF5860}" destId="{E17FF71C-F834-4F1F-8F77-5F5C30634AFF}" srcOrd="1" destOrd="0" presId="urn:microsoft.com/office/officeart/2018/5/layout/IconCircleLabelList"/>
    <dgm:cxn modelId="{24062142-9FCB-4929-9558-F406A9339FEB}" type="presParOf" srcId="{A8D3F22E-8C85-4C99-A8CC-4A609EEF5860}" destId="{844334C4-62CF-4328-B06E-DC82DA617CB1}" srcOrd="2" destOrd="0" presId="urn:microsoft.com/office/officeart/2018/5/layout/IconCircleLabelList"/>
    <dgm:cxn modelId="{A19BB216-5F45-4310-8470-87750982AF7A}" type="presParOf" srcId="{A8D3F22E-8C85-4C99-A8CC-4A609EEF5860}" destId="{662D99AA-937E-46DA-9089-D15C82BE6AD1}" srcOrd="3" destOrd="0" presId="urn:microsoft.com/office/officeart/2018/5/layout/IconCircleLabelList"/>
    <dgm:cxn modelId="{E7BD689C-E887-46A0-A715-C4E94DF77F4F}" type="presParOf" srcId="{84570498-509F-459A-965C-790C745F9046}" destId="{41A9D2AE-1D02-48DF-8287-A40C55072DC9}" srcOrd="1" destOrd="0" presId="urn:microsoft.com/office/officeart/2018/5/layout/IconCircleLabelList"/>
    <dgm:cxn modelId="{C1B59029-4788-4015-8307-D4C6EBA8DA3B}" type="presParOf" srcId="{84570498-509F-459A-965C-790C745F9046}" destId="{C533864F-5A24-45B6-AB1A-CF0242AD07FC}" srcOrd="2" destOrd="0" presId="urn:microsoft.com/office/officeart/2018/5/layout/IconCircleLabelList"/>
    <dgm:cxn modelId="{8A8862FC-F6E6-4059-A339-858DD950EEDD}" type="presParOf" srcId="{C533864F-5A24-45B6-AB1A-CF0242AD07FC}" destId="{8B7FF7CB-72B4-4DC4-9F27-56A20201E7C5}" srcOrd="0" destOrd="0" presId="urn:microsoft.com/office/officeart/2018/5/layout/IconCircleLabelList"/>
    <dgm:cxn modelId="{135E9EF3-4CC7-45D2-9069-3951B5BA3D3D}" type="presParOf" srcId="{C533864F-5A24-45B6-AB1A-CF0242AD07FC}" destId="{7579B9E3-702B-4F6F-B004-AB9D574E3A7F}" srcOrd="1" destOrd="0" presId="urn:microsoft.com/office/officeart/2018/5/layout/IconCircleLabelList"/>
    <dgm:cxn modelId="{55496516-B356-4F78-89EF-718FB14636B1}" type="presParOf" srcId="{C533864F-5A24-45B6-AB1A-CF0242AD07FC}" destId="{B55BAF87-8634-4E42-BB31-D50F44C7FB7D}" srcOrd="2" destOrd="0" presId="urn:microsoft.com/office/officeart/2018/5/layout/IconCircleLabelList"/>
    <dgm:cxn modelId="{1669D421-D31B-4162-9E20-F419E46985AA}" type="presParOf" srcId="{C533864F-5A24-45B6-AB1A-CF0242AD07FC}" destId="{7700D3B8-AB01-48A0-B53A-353B89A8F6AA}" srcOrd="3" destOrd="0" presId="urn:microsoft.com/office/officeart/2018/5/layout/IconCircleLabelList"/>
    <dgm:cxn modelId="{D97B36DA-D341-472E-8918-7186FD0C9ECA}" type="presParOf" srcId="{84570498-509F-459A-965C-790C745F9046}" destId="{8882889C-AF8A-40C2-9B87-0336650750C1}" srcOrd="3" destOrd="0" presId="urn:microsoft.com/office/officeart/2018/5/layout/IconCircleLabelList"/>
    <dgm:cxn modelId="{36AA7C30-1358-4B78-B8B0-512731845759}" type="presParOf" srcId="{84570498-509F-459A-965C-790C745F9046}" destId="{815A6545-5DCB-4C2B-96A7-F54796FAE49A}" srcOrd="4" destOrd="0" presId="urn:microsoft.com/office/officeart/2018/5/layout/IconCircleLabelList"/>
    <dgm:cxn modelId="{2787641F-7D21-4690-A609-EE493F3AFB9A}" type="presParOf" srcId="{815A6545-5DCB-4C2B-96A7-F54796FAE49A}" destId="{5D17327D-4B34-4DFB-B787-F0DB880D4BFE}" srcOrd="0" destOrd="0" presId="urn:microsoft.com/office/officeart/2018/5/layout/IconCircleLabelList"/>
    <dgm:cxn modelId="{2E1E42DA-A690-4D6C-A523-02900925DDF6}" type="presParOf" srcId="{815A6545-5DCB-4C2B-96A7-F54796FAE49A}" destId="{CDF560C0-20C7-47E9-A14D-C68877F2DF3A}" srcOrd="1" destOrd="0" presId="urn:microsoft.com/office/officeart/2018/5/layout/IconCircleLabelList"/>
    <dgm:cxn modelId="{4F87DF0A-B3F7-4519-B1DB-904FF8A42945}" type="presParOf" srcId="{815A6545-5DCB-4C2B-96A7-F54796FAE49A}" destId="{6B4B4B39-7020-40AD-B61D-58A7F91A9AAD}" srcOrd="2" destOrd="0" presId="urn:microsoft.com/office/officeart/2018/5/layout/IconCircleLabelList"/>
    <dgm:cxn modelId="{C745EFA3-153F-42B1-8DC7-9476BBE19278}" type="presParOf" srcId="{815A6545-5DCB-4C2B-96A7-F54796FAE49A}" destId="{2A80051F-AC05-46F7-A0FB-65040E7A4AD5}" srcOrd="3" destOrd="0" presId="urn:microsoft.com/office/officeart/2018/5/layout/IconCircleLabelList"/>
    <dgm:cxn modelId="{97AA9FC0-A17B-44C1-B257-EE3FD8CF4CE6}" type="presParOf" srcId="{84570498-509F-459A-965C-790C745F9046}" destId="{7316DF4C-A797-4278-A0F4-D4ADE8D16FB9}" srcOrd="5" destOrd="0" presId="urn:microsoft.com/office/officeart/2018/5/layout/IconCircleLabelList"/>
    <dgm:cxn modelId="{C816A7FD-0369-4C67-AEA4-BB406A2C4CE9}" type="presParOf" srcId="{84570498-509F-459A-965C-790C745F9046}" destId="{5B5DFC13-75B5-44A4-9D46-7A3F83B018B4}" srcOrd="6" destOrd="0" presId="urn:microsoft.com/office/officeart/2018/5/layout/IconCircleLabelList"/>
    <dgm:cxn modelId="{FBF8FC03-35E1-4D91-98D5-96FEBE6566BC}" type="presParOf" srcId="{5B5DFC13-75B5-44A4-9D46-7A3F83B018B4}" destId="{6D4F3768-A0C5-4AEF-A690-77CEF0D6E643}" srcOrd="0" destOrd="0" presId="urn:microsoft.com/office/officeart/2018/5/layout/IconCircleLabelList"/>
    <dgm:cxn modelId="{9FA49B93-0961-4AC8-875D-D3A3F8567F05}" type="presParOf" srcId="{5B5DFC13-75B5-44A4-9D46-7A3F83B018B4}" destId="{ECAE84B1-5D7E-4062-B05D-E48512E78FEA}" srcOrd="1" destOrd="0" presId="urn:microsoft.com/office/officeart/2018/5/layout/IconCircleLabelList"/>
    <dgm:cxn modelId="{C935E6B5-B949-4B45-9A4A-4560326AEB97}" type="presParOf" srcId="{5B5DFC13-75B5-44A4-9D46-7A3F83B018B4}" destId="{16E30D37-4842-482A-AE1F-26A303DFF653}" srcOrd="2" destOrd="0" presId="urn:microsoft.com/office/officeart/2018/5/layout/IconCircleLabelList"/>
    <dgm:cxn modelId="{389FFCEA-BAF7-4DE1-A399-3919DF907FDF}" type="presParOf" srcId="{5B5DFC13-75B5-44A4-9D46-7A3F83B018B4}" destId="{ACFF11CD-75F1-44BF-99DF-F57773CBD6A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BB2B5-706C-413A-96D5-4E3D7006D830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FF71C-F834-4F1F-8F77-5F5C30634AFF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D99AA-937E-46DA-9089-D15C82BE6AD1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Deploy real-time forecasting pipeline in Databricks (streaming + model serving)</a:t>
          </a:r>
        </a:p>
      </dsp:txBody>
      <dsp:txXfrm>
        <a:off x="2092" y="2524067"/>
        <a:ext cx="1741992" cy="696796"/>
      </dsp:txXfrm>
    </dsp:sp>
    <dsp:sp modelId="{8B7FF7CB-72B4-4DC4-9F27-56A20201E7C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9B9E3-702B-4F6F-B004-AB9D574E3A7F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0D3B8-AB01-48A0-B53A-353B89A8F6AA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Implement dynamic pricing using demand signals + fairness constraints</a:t>
          </a:r>
        </a:p>
      </dsp:txBody>
      <dsp:txXfrm>
        <a:off x="2048933" y="2524067"/>
        <a:ext cx="1741992" cy="696796"/>
      </dsp:txXfrm>
    </dsp:sp>
    <dsp:sp modelId="{5D17327D-4B34-4DFB-B787-F0DB880D4BFE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F560C0-20C7-47E9-A14D-C68877F2DF3A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0051F-AC05-46F7-A0FB-65040E7A4AD5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Integrate weather &amp; events data for improved forecast accuracy</a:t>
          </a:r>
        </a:p>
      </dsp:txBody>
      <dsp:txXfrm>
        <a:off x="4095774" y="2524067"/>
        <a:ext cx="1741992" cy="696796"/>
      </dsp:txXfrm>
    </dsp:sp>
    <dsp:sp modelId="{6D4F3768-A0C5-4AEF-A690-77CEF0D6E643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E84B1-5D7E-4062-B05D-E48512E78FEA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F11CD-75F1-44BF-99DF-F57773CBD6AB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Driver incentives &amp; shift optimization to reduce idle time</a:t>
          </a:r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733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project, its goals, and state that visuals are representative and can be regenerated with the real dataset if uploaded.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agenda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source data, key columns, and pipeline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peaks (e.g., morning/evening) and implications for driver allocation and surge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practical next steps and measurable KPIs (reduction in wait times, increase in matches, revenue uplift).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and offer to regenerate with your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739CA5-F0F5-48E1-8E8C-F24B71827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9144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3EAD2937-F230-41D4-B9C5-975B129B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058" y="640080"/>
            <a:ext cx="8190312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D444A3-C338-4886-B7F1-4BA2AF46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018" y="960109"/>
            <a:ext cx="7708392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6492" y="2310115"/>
            <a:ext cx="7018398" cy="10419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3200" b="1">
                <a:solidFill>
                  <a:srgbClr val="FFFFFF"/>
                </a:solidFill>
              </a:defRPr>
            </a:pP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Big Data Analytics in the Travel &amp; Transportation Industry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2397" y="4547885"/>
            <a:ext cx="3362493" cy="2699968"/>
          </a:xfrm>
        </p:spPr>
        <p:txBody>
          <a:bodyPr vert="horz" lIns="91440" tIns="45720" rIns="91440" bIns="45720" rtlCol="0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By 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SHIVANAGARAJU KARNAKANTI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24MBMA70</a:t>
            </a:r>
          </a:p>
          <a:p>
            <a:pPr algn="l" defTabSz="914400">
              <a:lnSpc>
                <a:spcPct val="90000"/>
              </a:lnSpc>
            </a:pPr>
            <a:r>
              <a:rPr lang="en-US" sz="1700" dirty="0">
                <a:solidFill>
                  <a:schemeClr val="tx1"/>
                </a:solidFill>
              </a:rPr>
              <a:t>School of management studies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4558" y="1207815"/>
            <a:ext cx="3415875" cy="269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rPr lang="en-US" sz="1700" dirty="0"/>
              <a:t>Capstone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IN" sz="420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endParaRPr lang="en-US" sz="1600">
              <a:solidFill>
                <a:schemeClr val="tx2"/>
              </a:solidFill>
            </a:endParaRP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Project Overview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Methodology &amp; Tech Stack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Key Visuals (Demand, Pricing, Utilization)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Customer Segmentation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rPr lang="en-US" sz="1600">
                <a:solidFill>
                  <a:schemeClr val="tx2"/>
                </a:solidFill>
              </a:rPr>
              <a:t>• 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Dataset &amp;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dirty="0"/>
              <a:t>• Columns used: timestamp, pickup, drop, fare, surge, </a:t>
            </a:r>
            <a:r>
              <a:rPr dirty="0" err="1"/>
              <a:t>driver_id</a:t>
            </a:r>
            <a:r>
              <a:rPr dirty="0"/>
              <a:t>, </a:t>
            </a:r>
            <a:r>
              <a:rPr dirty="0" err="1"/>
              <a:t>customer_id</a:t>
            </a:r>
            <a:r>
              <a:rPr dirty="0"/>
              <a:t>, distance, </a:t>
            </a:r>
            <a:r>
              <a:rPr dirty="0" err="1"/>
              <a:t>payment_type</a:t>
            </a:r>
            <a:endParaRPr dirty="0"/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dirty="0"/>
              <a:t>• Platform: Databricks + </a:t>
            </a:r>
            <a:r>
              <a:rPr dirty="0" err="1"/>
              <a:t>PySpark</a:t>
            </a:r>
            <a:r>
              <a:rPr dirty="0"/>
              <a:t> for scalable ETL and feature engineering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rPr dirty="0"/>
              <a:t>• Outputs: Time-series forecasts, pricing optimization signals, utilization metrics, segments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10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5F469F-42ED-14B9-F252-013AC3C53716}"/>
              </a:ext>
            </a:extLst>
          </p:cNvPr>
          <p:cNvSpPr txBox="1">
            <a:spLocks/>
          </p:cNvSpPr>
          <p:nvPr/>
        </p:nvSpPr>
        <p:spPr>
          <a:xfrm>
            <a:off x="628650" y="557189"/>
            <a:ext cx="7886700" cy="1110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90000"/>
              </a:lnSpc>
              <a:spcAft>
                <a:spcPts val="600"/>
              </a:spcAft>
              <a:defRPr sz="3200" b="1">
                <a:solidFill>
                  <a:srgbClr val="FFFFFF"/>
                </a:solidFill>
              </a:defRPr>
            </a:pPr>
            <a:r>
              <a:rPr lang="en-US"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pic>
        <p:nvPicPr>
          <p:cNvPr id="7" name="Picture 6" descr="customer_seg.png">
            <a:extLst>
              <a:ext uri="{FF2B5EF4-FFF2-40B4-BE49-F238E27FC236}">
                <a16:creationId xmlns:a16="http://schemas.microsoft.com/office/drawing/2014/main" id="{8F85F536-4204-CC1B-1934-4DB3C710D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65" y="1834939"/>
            <a:ext cx="2056976" cy="2056976"/>
          </a:xfrm>
          <a:prstGeom prst="rect">
            <a:avLst/>
          </a:prstGeom>
        </p:spPr>
      </p:pic>
      <p:pic>
        <p:nvPicPr>
          <p:cNvPr id="9" name="Picture 8" descr="driver_util.png">
            <a:extLst>
              <a:ext uri="{FF2B5EF4-FFF2-40B4-BE49-F238E27FC236}">
                <a16:creationId xmlns:a16="http://schemas.microsoft.com/office/drawing/2014/main" id="{19BA824A-43E0-BA8B-91AA-CF7A337DE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006" y="1993147"/>
            <a:ext cx="2844598" cy="1898768"/>
          </a:xfrm>
          <a:prstGeom prst="rect">
            <a:avLst/>
          </a:prstGeom>
        </p:spPr>
      </p:pic>
      <p:pic>
        <p:nvPicPr>
          <p:cNvPr id="8" name="Picture 7" descr="trip_distance.png">
            <a:extLst>
              <a:ext uri="{FF2B5EF4-FFF2-40B4-BE49-F238E27FC236}">
                <a16:creationId xmlns:a16="http://schemas.microsoft.com/office/drawing/2014/main" id="{5E98FF42-5FC4-12E4-3138-43D9608B54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024" y="1993147"/>
            <a:ext cx="2844597" cy="1898767"/>
          </a:xfrm>
          <a:prstGeom prst="rect">
            <a:avLst/>
          </a:prstGeom>
        </p:spPr>
      </p:pic>
      <p:pic>
        <p:nvPicPr>
          <p:cNvPr id="6" name="Picture 5" descr="fare_dist.png">
            <a:extLst>
              <a:ext uri="{FF2B5EF4-FFF2-40B4-BE49-F238E27FC236}">
                <a16:creationId xmlns:a16="http://schemas.microsoft.com/office/drawing/2014/main" id="{4E3C709D-D0B1-A65F-DE0F-CFB4447BB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055" y="4063630"/>
            <a:ext cx="2844597" cy="1898767"/>
          </a:xfrm>
          <a:prstGeom prst="rect">
            <a:avLst/>
          </a:prstGeom>
        </p:spPr>
      </p:pic>
      <p:pic>
        <p:nvPicPr>
          <p:cNvPr id="3" name="Picture 2" descr="hourly_dem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6006" y="4063630"/>
            <a:ext cx="2844598" cy="1137838"/>
          </a:xfrm>
          <a:prstGeom prst="rect">
            <a:avLst/>
          </a:prstGeom>
        </p:spPr>
      </p:pic>
      <p:pic>
        <p:nvPicPr>
          <p:cNvPr id="4" name="Picture 3" descr="daily_demand.png">
            <a:extLst>
              <a:ext uri="{FF2B5EF4-FFF2-40B4-BE49-F238E27FC236}">
                <a16:creationId xmlns:a16="http://schemas.microsoft.com/office/drawing/2014/main" id="{CDF9F8B1-90F8-6A0C-7F1C-CA0403E6E6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1024" y="4063630"/>
            <a:ext cx="2844597" cy="11378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IN" sz="3200">
                <a:solidFill>
                  <a:srgbClr val="FFFFFF"/>
                </a:solidFill>
              </a:rPr>
              <a:t>Recommendations &amp; Future Scope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C6A7DF87-8250-B928-61CC-460E8E7E2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89588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787" y="2023269"/>
            <a:ext cx="8229600" cy="2811462"/>
          </a:xfrm>
        </p:spPr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244</Words>
  <Application>Microsoft Office PowerPoint</Application>
  <PresentationFormat>On-screen Show (4:3)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Big Data Analytics in the Travel &amp; Transportation Industry</vt:lpstr>
      <vt:lpstr>Agenda</vt:lpstr>
      <vt:lpstr>Dataset &amp; ETL Pipeline</vt:lpstr>
      <vt:lpstr>PowerPoint Presentation</vt:lpstr>
      <vt:lpstr>Recommendations &amp; 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chary</dc:creator>
  <cp:keywords/>
  <dc:description>generated using python-pptx</dc:description>
  <cp:lastModifiedBy>seraj khan</cp:lastModifiedBy>
  <cp:revision>4</cp:revision>
  <dcterms:created xsi:type="dcterms:W3CDTF">2013-01-27T09:14:16Z</dcterms:created>
  <dcterms:modified xsi:type="dcterms:W3CDTF">2025-11-11T10:52:23Z</dcterms:modified>
  <cp:category/>
</cp:coreProperties>
</file>